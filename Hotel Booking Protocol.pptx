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21"/>
    </p:embeddedFont>
    <p:embeddedFont>
      <p:font typeface="Calibri (MS) Italics" charset="1" panose="020F05020202040A0204"/>
      <p:regular r:id="rId22"/>
    </p:embeddedFont>
    <p:embeddedFont>
      <p:font typeface="Calibri (MS)" charset="1" panose="020F0502020204030204"/>
      <p:regular r:id="rId23"/>
    </p:embeddedFont>
    <p:embeddedFont>
      <p:font typeface="Calibri (MS) Bold" charset="1" panose="020F0702030404030204"/>
      <p:regular r:id="rId25"/>
    </p:embeddedFont>
    <p:embeddedFont>
      <p:font typeface="Courier New" charset="1" panose="020703090202050204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4520" y="-3291840"/>
            <a:ext cx="8915400" cy="8915400"/>
            <a:chOff x="0" y="0"/>
            <a:chExt cx="11887200" cy="1188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87200" cy="11887200"/>
            </a:xfrm>
            <a:custGeom>
              <a:avLst/>
              <a:gdLst/>
              <a:ahLst/>
              <a:cxnLst/>
              <a:rect r="r" b="b" t="t" l="l"/>
              <a:pathLst>
                <a:path h="11887200" w="11887200">
                  <a:moveTo>
                    <a:pt x="0" y="5943600"/>
                  </a:moveTo>
                  <a:cubicBezTo>
                    <a:pt x="0" y="2661031"/>
                    <a:pt x="2661031" y="0"/>
                    <a:pt x="5943600" y="0"/>
                  </a:cubicBezTo>
                  <a:cubicBezTo>
                    <a:pt x="9226169" y="0"/>
                    <a:pt x="11887200" y="2661031"/>
                    <a:pt x="11887200" y="5943600"/>
                  </a:cubicBezTo>
                  <a:cubicBezTo>
                    <a:pt x="11887200" y="9226169"/>
                    <a:pt x="9226169" y="11887200"/>
                    <a:pt x="5943600" y="11887200"/>
                  </a:cubicBezTo>
                  <a:cubicBezTo>
                    <a:pt x="2661031" y="11887200"/>
                    <a:pt x="0" y="9226169"/>
                    <a:pt x="0" y="5943600"/>
                  </a:cubicBezTo>
                  <a:close/>
                </a:path>
              </a:pathLst>
            </a:custGeom>
            <a:solidFill>
              <a:srgbClr val="1C7293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017520" y="6309360"/>
            <a:ext cx="6035040" cy="6035040"/>
            <a:chOff x="0" y="0"/>
            <a:chExt cx="8046720" cy="8046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467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F2A65A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3223260"/>
            <a:ext cx="18287543" cy="1234440"/>
            <a:chOff x="0" y="0"/>
            <a:chExt cx="2438339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91" cy="1645920"/>
            </a:xfrm>
            <a:custGeom>
              <a:avLst/>
              <a:gdLst/>
              <a:ahLst/>
              <a:cxnLst/>
              <a:rect r="r" b="b" t="t" l="l"/>
              <a:pathLst>
                <a:path h="164592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660" r="0" b="-2386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438339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HOTEL ROOM BOOKING SYSTEM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4183380"/>
            <a:ext cx="18287543" cy="960120"/>
            <a:chOff x="0" y="0"/>
            <a:chExt cx="24383390" cy="1280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339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34" r="0" b="-32113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438339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2A65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with Concurrency Control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57400" y="5417820"/>
            <a:ext cx="14172743" cy="1097280"/>
            <a:chOff x="0" y="0"/>
            <a:chExt cx="1889699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89699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896991">
                  <a:moveTo>
                    <a:pt x="0" y="0"/>
                  </a:moveTo>
                  <a:lnTo>
                    <a:pt x="18896991" y="0"/>
                  </a:lnTo>
                  <a:lnTo>
                    <a:pt x="1889699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673" r="0" b="-20167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889699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i="true">
                  <a:solidFill>
                    <a:srgbClr val="C7D9E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Preventing Double-Booking in a Multi-Client Environment</a:t>
              </a:r>
            </a:p>
            <a:p>
              <a:pPr algn="ctr">
                <a:lnSpc>
                  <a:spcPts val="3240"/>
                </a:lnSpc>
              </a:pPr>
              <a:r>
                <a:rPr lang="en-US" sz="2250" i="true">
                  <a:solidFill>
                    <a:srgbClr val="C7D9E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using Python Socket Programming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35460">
            <a:off x="7762608" y="6917055"/>
            <a:ext cx="2771918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0" y="8983980"/>
            <a:ext cx="18287543" cy="548640"/>
            <a:chOff x="0" y="0"/>
            <a:chExt cx="2438339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3391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485" r="0" b="-59948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438339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อชิระ จันทร์สว่าง  รหัสนิสิต 6710451496  |   หลักการสื่อสารคอมพิวเตอร์และการประมวลผลบนคลาวด์ 01418351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Problem We're Solving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2153412"/>
            <a:ext cx="630936" cy="630936"/>
            <a:chOff x="0" y="0"/>
            <a:chExt cx="841248" cy="8412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4380" y="2153412"/>
            <a:ext cx="630936" cy="630936"/>
            <a:chOff x="0" y="0"/>
            <a:chExt cx="841248" cy="8412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41248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32204" y="1977009"/>
            <a:ext cx="15900959" cy="113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549" b="true">
                <a:solidFill>
                  <a:srgbClr val="1B2A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สถานการณ์จริง</a:t>
            </a:r>
          </a:p>
          <a:p>
            <a:pPr algn="l">
              <a:lnSpc>
                <a:spcPts val="2740"/>
              </a:lnSpc>
            </a:pPr>
          </a:p>
          <a:p>
            <a:pPr algn="l">
              <a:lnSpc>
                <a:spcPts val="2740"/>
              </a:lnSpc>
            </a:pPr>
            <a:r>
              <a:rPr lang="en-US" sz="2174">
                <a:solidFill>
                  <a:srgbClr val="5B7480"/>
                </a:solidFill>
                <a:latin typeface="Calibri (MS)"/>
                <a:ea typeface="Calibri (MS)"/>
                <a:cs typeface="Calibri (MS)"/>
                <a:sym typeface="Calibri (MS)"/>
              </a:rPr>
              <a:t>ลูกค้าหลายคนพยายามจองห้องพักเดียวกันในเวลาไล่เลี่ยกัน เช่นบน Agoda หรือ Booking.com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54380" y="3909060"/>
            <a:ext cx="630936" cy="630936"/>
            <a:chOff x="0" y="0"/>
            <a:chExt cx="841248" cy="8412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54380" y="3909060"/>
            <a:ext cx="630936" cy="630936"/>
            <a:chOff x="0" y="0"/>
            <a:chExt cx="841248" cy="8412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41248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32204" y="3732657"/>
            <a:ext cx="15900959" cy="113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549" b="true">
                <a:solidFill>
                  <a:srgbClr val="1B2A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ความเสี่ยง</a:t>
            </a:r>
          </a:p>
          <a:p>
            <a:pPr algn="l">
              <a:lnSpc>
                <a:spcPts val="2740"/>
              </a:lnSpc>
            </a:pPr>
          </a:p>
          <a:p>
            <a:pPr algn="l">
              <a:lnSpc>
                <a:spcPts val="2740"/>
              </a:lnSpc>
            </a:pPr>
            <a:r>
              <a:rPr lang="en-US" sz="2174">
                <a:solidFill>
                  <a:srgbClr val="5B7480"/>
                </a:solidFill>
                <a:latin typeface="Calibri (MS)"/>
                <a:ea typeface="Calibri (MS)"/>
                <a:cs typeface="Calibri (MS)"/>
                <a:sym typeface="Calibri (MS)"/>
              </a:rPr>
              <a:t>หากระบบจัดการไม่ดี จะเกิด Double Booking — ขายห้องเดียวให้ลูกค้า 2 คนพร้อมกัน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54380" y="5664708"/>
            <a:ext cx="630936" cy="630936"/>
            <a:chOff x="0" y="0"/>
            <a:chExt cx="841248" cy="8412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54380" y="5664708"/>
            <a:ext cx="630936" cy="630936"/>
            <a:chOff x="0" y="0"/>
            <a:chExt cx="841248" cy="8412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41248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32204" y="5488305"/>
            <a:ext cx="15900959" cy="113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549" b="true">
                <a:solidFill>
                  <a:srgbClr val="1B2A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เป้าหมายโปรเจกต์</a:t>
            </a:r>
          </a:p>
          <a:p>
            <a:pPr algn="l">
              <a:lnSpc>
                <a:spcPts val="2740"/>
              </a:lnSpc>
            </a:pPr>
          </a:p>
          <a:p>
            <a:pPr algn="l">
              <a:lnSpc>
                <a:spcPts val="2740"/>
              </a:lnSpc>
            </a:pPr>
            <a:r>
              <a:rPr lang="en-US" sz="2174">
                <a:solidFill>
                  <a:srgbClr val="5B7480"/>
                </a:solidFill>
                <a:latin typeface="Calibri (MS)"/>
                <a:ea typeface="Calibri (MS)"/>
                <a:cs typeface="Calibri (MS)"/>
                <a:sym typeface="Calibri (MS)"/>
              </a:rPr>
              <a:t>สร้างระบบจองห้องที่รับประกันว่ามีผู้ใช้เพียงคนเดียวเท่านั้นที่ได้สิทธิ์จองสำเร็จ แม้มีหลาย client ยิง request พร้อมกัน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54380" y="7420356"/>
            <a:ext cx="630936" cy="630936"/>
            <a:chOff x="0" y="0"/>
            <a:chExt cx="841248" cy="8412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54380" y="7420356"/>
            <a:ext cx="630936" cy="630936"/>
            <a:chOff x="0" y="0"/>
            <a:chExt cx="841248" cy="8412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841248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632204" y="7243953"/>
            <a:ext cx="15900959" cy="113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549" b="true">
                <a:solidFill>
                  <a:srgbClr val="1B2A3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ทำไมเลือกหัวข้อนี้</a:t>
            </a:r>
          </a:p>
          <a:p>
            <a:pPr algn="l">
              <a:lnSpc>
                <a:spcPts val="2740"/>
              </a:lnSpc>
            </a:pPr>
          </a:p>
          <a:p>
            <a:pPr algn="l">
              <a:lnSpc>
                <a:spcPts val="2740"/>
              </a:lnSpc>
            </a:pPr>
            <a:r>
              <a:rPr lang="en-US" sz="2174">
                <a:solidFill>
                  <a:srgbClr val="5B7480"/>
                </a:solidFill>
                <a:latin typeface="Calibri (MS)"/>
                <a:ea typeface="Calibri (MS)"/>
                <a:cs typeface="Calibri (MS)"/>
                <a:sym typeface="Calibri (MS)"/>
              </a:rPr>
              <a:t>ตรงกับ domain ธุรกิจสาย travel-tech โดยตรง และเป็นหัวข้อสัมภาษณ์งาน backend ที่พบบ่อย (race condition, concurrency control)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96854" y="2388394"/>
            <a:ext cx="2904172" cy="1189673"/>
            <a:chOff x="0" y="0"/>
            <a:chExt cx="3872230" cy="15862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72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387223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3722878" y="0"/>
                  </a:lnTo>
                  <a:cubicBezTo>
                    <a:pt x="3805301" y="0"/>
                    <a:pt x="3872230" y="66802"/>
                    <a:pt x="3872230" y="149352"/>
                  </a:cubicBezTo>
                  <a:lnTo>
                    <a:pt x="3872230" y="1436878"/>
                  </a:lnTo>
                  <a:cubicBezTo>
                    <a:pt x="3872230" y="1519301"/>
                    <a:pt x="3805428" y="1586230"/>
                    <a:pt x="3722878" y="1586230"/>
                  </a:cubicBezTo>
                  <a:lnTo>
                    <a:pt x="149352" y="1586230"/>
                  </a:lnTo>
                  <a:cubicBezTo>
                    <a:pt x="66802" y="1586230"/>
                    <a:pt x="0" y="1519428"/>
                    <a:pt x="0" y="1436878"/>
                  </a:cubicBezTo>
                  <a:close/>
                </a:path>
              </a:pathLst>
            </a:custGeom>
            <a:solidFill>
              <a:srgbClr val="F2F7FA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760" y="2400300"/>
            <a:ext cx="2880360" cy="1165860"/>
            <a:chOff x="0" y="0"/>
            <a:chExt cx="38404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40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2" t="0" r="-193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84048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94860" y="2756916"/>
            <a:ext cx="1165860" cy="452628"/>
            <a:chOff x="0" y="0"/>
            <a:chExt cx="1554480" cy="6035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54480" cy="603504"/>
            </a:xfrm>
            <a:custGeom>
              <a:avLst/>
              <a:gdLst/>
              <a:ahLst/>
              <a:cxnLst/>
              <a:rect r="r" b="b" t="t" l="l"/>
              <a:pathLst>
                <a:path h="603504" w="1554480">
                  <a:moveTo>
                    <a:pt x="0" y="150876"/>
                  </a:moveTo>
                  <a:lnTo>
                    <a:pt x="1252728" y="150876"/>
                  </a:lnTo>
                  <a:lnTo>
                    <a:pt x="1252728" y="0"/>
                  </a:lnTo>
                  <a:lnTo>
                    <a:pt x="1554480" y="301752"/>
                  </a:lnTo>
                  <a:lnTo>
                    <a:pt x="1252728" y="603504"/>
                  </a:lnTo>
                  <a:lnTo>
                    <a:pt x="1252728" y="452628"/>
                  </a:lnTo>
                  <a:lnTo>
                    <a:pt x="0" y="452628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96854" y="3897154"/>
            <a:ext cx="2904172" cy="1189673"/>
            <a:chOff x="0" y="0"/>
            <a:chExt cx="3872230" cy="15862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72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387223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3722878" y="0"/>
                  </a:lnTo>
                  <a:cubicBezTo>
                    <a:pt x="3805301" y="0"/>
                    <a:pt x="3872230" y="66802"/>
                    <a:pt x="3872230" y="149352"/>
                  </a:cubicBezTo>
                  <a:lnTo>
                    <a:pt x="3872230" y="1436878"/>
                  </a:lnTo>
                  <a:cubicBezTo>
                    <a:pt x="3872230" y="1519301"/>
                    <a:pt x="3805428" y="1586230"/>
                    <a:pt x="3722878" y="1586230"/>
                  </a:cubicBezTo>
                  <a:lnTo>
                    <a:pt x="149352" y="1586230"/>
                  </a:lnTo>
                  <a:cubicBezTo>
                    <a:pt x="66802" y="1586230"/>
                    <a:pt x="0" y="1519428"/>
                    <a:pt x="0" y="1436878"/>
                  </a:cubicBezTo>
                  <a:close/>
                </a:path>
              </a:pathLst>
            </a:custGeom>
            <a:solidFill>
              <a:srgbClr val="F2F7FA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3909060"/>
            <a:ext cx="2880360" cy="1165860"/>
            <a:chOff x="0" y="0"/>
            <a:chExt cx="3840480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40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2" t="0" r="-193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84048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594860" y="4265676"/>
            <a:ext cx="1165860" cy="452628"/>
            <a:chOff x="0" y="0"/>
            <a:chExt cx="1554480" cy="603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4480" cy="603504"/>
            </a:xfrm>
            <a:custGeom>
              <a:avLst/>
              <a:gdLst/>
              <a:ahLst/>
              <a:cxnLst/>
              <a:rect r="r" b="b" t="t" l="l"/>
              <a:pathLst>
                <a:path h="603504" w="1554480">
                  <a:moveTo>
                    <a:pt x="0" y="150876"/>
                  </a:moveTo>
                  <a:lnTo>
                    <a:pt x="1252728" y="150876"/>
                  </a:lnTo>
                  <a:lnTo>
                    <a:pt x="1252728" y="0"/>
                  </a:lnTo>
                  <a:lnTo>
                    <a:pt x="1554480" y="301752"/>
                  </a:lnTo>
                  <a:lnTo>
                    <a:pt x="1252728" y="603504"/>
                  </a:lnTo>
                  <a:lnTo>
                    <a:pt x="1252728" y="452628"/>
                  </a:lnTo>
                  <a:lnTo>
                    <a:pt x="0" y="452628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96854" y="5405914"/>
            <a:ext cx="2904172" cy="1189673"/>
            <a:chOff x="0" y="0"/>
            <a:chExt cx="3872230" cy="15862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72230" cy="1586230"/>
            </a:xfrm>
            <a:custGeom>
              <a:avLst/>
              <a:gdLst/>
              <a:ahLst/>
              <a:cxnLst/>
              <a:rect r="r" b="b" t="t" l="l"/>
              <a:pathLst>
                <a:path h="1586230" w="3872230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3722878" y="0"/>
                  </a:lnTo>
                  <a:cubicBezTo>
                    <a:pt x="3805301" y="0"/>
                    <a:pt x="3872230" y="66802"/>
                    <a:pt x="3872230" y="149352"/>
                  </a:cubicBezTo>
                  <a:lnTo>
                    <a:pt x="3872230" y="1436878"/>
                  </a:lnTo>
                  <a:cubicBezTo>
                    <a:pt x="3872230" y="1519301"/>
                    <a:pt x="3805428" y="1586230"/>
                    <a:pt x="3722878" y="1586230"/>
                  </a:cubicBezTo>
                  <a:lnTo>
                    <a:pt x="149352" y="1586230"/>
                  </a:lnTo>
                  <a:cubicBezTo>
                    <a:pt x="66802" y="1586230"/>
                    <a:pt x="0" y="1519428"/>
                    <a:pt x="0" y="1436878"/>
                  </a:cubicBezTo>
                  <a:close/>
                </a:path>
              </a:pathLst>
            </a:custGeom>
            <a:solidFill>
              <a:srgbClr val="F2F7FA"/>
            </a:solidFill>
            <a:ln w="2381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508760" y="5417820"/>
            <a:ext cx="2880360" cy="1165860"/>
            <a:chOff x="0" y="0"/>
            <a:chExt cx="38404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40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2" t="0" r="-193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84048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94860" y="5774436"/>
            <a:ext cx="1165860" cy="452628"/>
            <a:chOff x="0" y="0"/>
            <a:chExt cx="1554480" cy="603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4480" cy="603504"/>
            </a:xfrm>
            <a:custGeom>
              <a:avLst/>
              <a:gdLst/>
              <a:ahLst/>
              <a:cxnLst/>
              <a:rect r="r" b="b" t="t" l="l"/>
              <a:pathLst>
                <a:path h="603504" w="1554480">
                  <a:moveTo>
                    <a:pt x="0" y="150876"/>
                  </a:moveTo>
                  <a:lnTo>
                    <a:pt x="1252728" y="150876"/>
                  </a:lnTo>
                  <a:lnTo>
                    <a:pt x="1252728" y="0"/>
                  </a:lnTo>
                  <a:lnTo>
                    <a:pt x="1554480" y="301752"/>
                  </a:lnTo>
                  <a:lnTo>
                    <a:pt x="1252728" y="603504"/>
                  </a:lnTo>
                  <a:lnTo>
                    <a:pt x="1252728" y="452628"/>
                  </a:lnTo>
                  <a:lnTo>
                    <a:pt x="0" y="452628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240780" y="2880360"/>
            <a:ext cx="4320540" cy="3291840"/>
            <a:chOff x="0" y="0"/>
            <a:chExt cx="5760720" cy="4389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607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5760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577840" y="0"/>
                  </a:lnTo>
                  <a:cubicBezTo>
                    <a:pt x="5678805" y="0"/>
                    <a:pt x="5760720" y="81915"/>
                    <a:pt x="5760720" y="182880"/>
                  </a:cubicBezTo>
                  <a:lnTo>
                    <a:pt x="5760720" y="4206240"/>
                  </a:lnTo>
                  <a:cubicBezTo>
                    <a:pt x="5760720" y="4307205"/>
                    <a:pt x="5678805" y="4389120"/>
                    <a:pt x="5577840" y="4389120"/>
                  </a:cubicBezTo>
                  <a:lnTo>
                    <a:pt x="182880" y="4389120"/>
                  </a:lnTo>
                  <a:cubicBezTo>
                    <a:pt x="81915" y="4389120"/>
                    <a:pt x="0" y="4307205"/>
                    <a:pt x="0" y="42062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240780" y="3154680"/>
            <a:ext cx="4320540" cy="1028700"/>
            <a:chOff x="0" y="0"/>
            <a:chExt cx="576072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60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76072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Server</a:t>
              </a:r>
            </a:p>
            <a:p>
              <a:pPr algn="ctr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127.0.0.1:5000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652260" y="4088130"/>
            <a:ext cx="3566160" cy="194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DCEBF2"/>
                </a:solidFill>
                <a:latin typeface="Calibri (MS)"/>
                <a:ea typeface="Calibri (MS)"/>
                <a:cs typeface="Calibri (MS)"/>
                <a:sym typeface="Calibri (MS)"/>
              </a:rPr>
              <a:t>• Listens continuously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DCEBF2"/>
                </a:solidFill>
                <a:latin typeface="Calibri (MS)"/>
                <a:ea typeface="Calibri (MS)"/>
                <a:cs typeface="Calibri (MS)"/>
                <a:sym typeface="Calibri (MS)"/>
              </a:rPr>
              <a:t>• Handles multiple clients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DCEBF2"/>
                </a:solidFill>
                <a:latin typeface="Calibri (MS)"/>
                <a:ea typeface="Calibri (MS)"/>
                <a:cs typeface="Calibri (MS)"/>
                <a:sym typeface="Calibri (MS)"/>
              </a:rPr>
              <a:t>• Manages in-memory room state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247120" y="2400300"/>
            <a:ext cx="6240780" cy="987552"/>
            <a:chOff x="0" y="0"/>
            <a:chExt cx="8321040" cy="13167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210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3210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193024" y="0"/>
                  </a:lnTo>
                  <a:cubicBezTo>
                    <a:pt x="8263763" y="0"/>
                    <a:pt x="8321040" y="57277"/>
                    <a:pt x="8321040" y="128016"/>
                  </a:cubicBezTo>
                  <a:lnTo>
                    <a:pt x="8321040" y="1188720"/>
                  </a:lnTo>
                  <a:cubicBezTo>
                    <a:pt x="8321040" y="1259459"/>
                    <a:pt x="8263763" y="1316736"/>
                    <a:pt x="81930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521440" y="2400300"/>
            <a:ext cx="5692140" cy="987552"/>
            <a:chOff x="0" y="0"/>
            <a:chExt cx="7589520" cy="13167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89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09" r="0" b="-6230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5895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Transport:  </a:t>
              </a:r>
              <a:r>
                <a:rPr lang="en-US" sz="1950">
                  <a:solidFill>
                    <a:srgbClr val="1B2A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TCP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247120" y="3607308"/>
            <a:ext cx="6240780" cy="987552"/>
            <a:chOff x="0" y="0"/>
            <a:chExt cx="8321040" cy="13167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210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3210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193024" y="0"/>
                  </a:lnTo>
                  <a:cubicBezTo>
                    <a:pt x="8263763" y="0"/>
                    <a:pt x="8321040" y="57277"/>
                    <a:pt x="8321040" y="128016"/>
                  </a:cubicBezTo>
                  <a:lnTo>
                    <a:pt x="8321040" y="1188720"/>
                  </a:lnTo>
                  <a:cubicBezTo>
                    <a:pt x="8321040" y="1259459"/>
                    <a:pt x="8263763" y="1316736"/>
                    <a:pt x="81930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521440" y="3607308"/>
            <a:ext cx="5692140" cy="987552"/>
            <a:chOff x="0" y="0"/>
            <a:chExt cx="7589520" cy="13167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89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09" r="0" b="-623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5895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Message Format:  </a:t>
              </a:r>
              <a:r>
                <a:rPr lang="en-US" sz="1950">
                  <a:solidFill>
                    <a:srgbClr val="1B2A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over socket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247120" y="4814316"/>
            <a:ext cx="6240780" cy="987552"/>
            <a:chOff x="0" y="0"/>
            <a:chExt cx="8321040" cy="13167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3210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32104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193024" y="0"/>
                  </a:lnTo>
                  <a:cubicBezTo>
                    <a:pt x="8263763" y="0"/>
                    <a:pt x="8321040" y="57277"/>
                    <a:pt x="8321040" y="128016"/>
                  </a:cubicBezTo>
                  <a:lnTo>
                    <a:pt x="8321040" y="1188720"/>
                  </a:lnTo>
                  <a:cubicBezTo>
                    <a:pt x="8321040" y="1259459"/>
                    <a:pt x="8263763" y="1316736"/>
                    <a:pt x="8193024" y="1316736"/>
                  </a:cubicBezTo>
                  <a:lnTo>
                    <a:pt x="128016" y="1316736"/>
                  </a:lnTo>
                  <a:cubicBezTo>
                    <a:pt x="57277" y="1316736"/>
                    <a:pt x="0" y="1259459"/>
                    <a:pt x="0" y="1188720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521440" y="4814316"/>
            <a:ext cx="5692140" cy="987552"/>
            <a:chOff x="0" y="0"/>
            <a:chExt cx="7589520" cy="13167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5895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309" r="0" b="-6230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5895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State Storage:  </a:t>
              </a:r>
              <a:r>
                <a:rPr lang="en-US" sz="1950">
                  <a:solidFill>
                    <a:srgbClr val="1B2A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In-memory dict (R101–R105)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508760" y="7063740"/>
            <a:ext cx="15293340" cy="2125980"/>
            <a:chOff x="0" y="0"/>
            <a:chExt cx="20391120" cy="2834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3911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03911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0244815" y="0"/>
                  </a:lnTo>
                  <a:cubicBezTo>
                    <a:pt x="20325587" y="0"/>
                    <a:pt x="20391120" y="65532"/>
                    <a:pt x="20391120" y="146304"/>
                  </a:cubicBezTo>
                  <a:lnTo>
                    <a:pt x="20391120" y="2688336"/>
                  </a:lnTo>
                  <a:cubicBezTo>
                    <a:pt x="20391120" y="2769108"/>
                    <a:pt x="20325587" y="2834640"/>
                    <a:pt x="20244815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0B2E45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920240" y="7269480"/>
            <a:ext cx="14538960" cy="1783080"/>
            <a:chOff x="0" y="0"/>
            <a:chExt cx="19385280" cy="2377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385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878" r="0" b="-10887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9385280" cy="2415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BEE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project/</a:t>
              </a:r>
            </a:p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BEE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server.py      ← runs continuously, waits for connections</a:t>
              </a:r>
            </a:p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BEE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├── client.py      ← can run multiple instances (simulates multiple users)</a:t>
              </a:r>
            </a:p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BEE3D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└── README.md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TCP over UDP?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2400300"/>
            <a:ext cx="9052560" cy="1577340"/>
            <a:chOff x="0" y="0"/>
            <a:chExt cx="12070080" cy="2103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00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2070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1956816"/>
                  </a:lnTo>
                  <a:cubicBezTo>
                    <a:pt x="12070080" y="2037588"/>
                    <a:pt x="12004548" y="2103120"/>
                    <a:pt x="1192377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784348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784348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94560" y="2537460"/>
            <a:ext cx="7338060" cy="1303020"/>
            <a:chOff x="0" y="0"/>
            <a:chExt cx="978408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840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31" r="0" b="-597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78408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 b="true">
                  <a:solidFill>
                    <a:srgbClr val="1B2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Reliable Delivery</a:t>
              </a:r>
            </a:p>
            <a:p>
              <a:pPr algn="l">
                <a:lnSpc>
                  <a:spcPts val="2606"/>
                </a:lnSpc>
              </a:pPr>
            </a:p>
            <a:p>
              <a:pPr algn="l">
                <a:lnSpc>
                  <a:spcPts val="2606"/>
                </a:lnSpc>
              </a:pPr>
              <a:r>
                <a:rPr lang="en-US" sz="1974">
                  <a:solidFill>
                    <a:srgbClr val="5B74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ข้อมูลการจอง/payment ต้องถึงปลายทางครบถ้วน ห้ามหาย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380" y="4251960"/>
            <a:ext cx="9052560" cy="1577340"/>
            <a:chOff x="0" y="0"/>
            <a:chExt cx="12070080" cy="2103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00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2070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1956816"/>
                  </a:lnTo>
                  <a:cubicBezTo>
                    <a:pt x="12070080" y="2037588"/>
                    <a:pt x="12004548" y="2103120"/>
                    <a:pt x="1192377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4636008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7280" y="4636008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94560" y="4389120"/>
            <a:ext cx="7338060" cy="1303020"/>
            <a:chOff x="0" y="0"/>
            <a:chExt cx="978408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840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31" r="0" b="-5973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978408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 b="true">
                  <a:solidFill>
                    <a:srgbClr val="1B2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Ordered Delivery</a:t>
              </a:r>
            </a:p>
            <a:p>
              <a:pPr algn="l">
                <a:lnSpc>
                  <a:spcPts val="2606"/>
                </a:lnSpc>
              </a:pPr>
            </a:p>
            <a:p>
              <a:pPr algn="l">
                <a:lnSpc>
                  <a:spcPts val="2606"/>
                </a:lnSpc>
              </a:pPr>
              <a:r>
                <a:rPr lang="en-US" sz="1974">
                  <a:solidFill>
                    <a:srgbClr val="5B74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Request/response ต้องมาตามลำดับ ไม่สลับกัน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4380" y="6103620"/>
            <a:ext cx="9052560" cy="1577340"/>
            <a:chOff x="0" y="0"/>
            <a:chExt cx="12070080" cy="21031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0700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2070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923776" y="0"/>
                  </a:lnTo>
                  <a:cubicBezTo>
                    <a:pt x="12004548" y="0"/>
                    <a:pt x="12070080" y="65532"/>
                    <a:pt x="12070080" y="146304"/>
                  </a:cubicBezTo>
                  <a:lnTo>
                    <a:pt x="12070080" y="1956816"/>
                  </a:lnTo>
                  <a:cubicBezTo>
                    <a:pt x="12070080" y="2037588"/>
                    <a:pt x="12004548" y="2103120"/>
                    <a:pt x="1192377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6487668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7280" y="6487668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94560" y="6240780"/>
            <a:ext cx="7338060" cy="1303020"/>
            <a:chOff x="0" y="0"/>
            <a:chExt cx="9784080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840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784080">
                  <a:moveTo>
                    <a:pt x="0" y="0"/>
                  </a:moveTo>
                  <a:lnTo>
                    <a:pt x="9784080" y="0"/>
                  </a:lnTo>
                  <a:lnTo>
                    <a:pt x="97840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731" r="0" b="-5973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978408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99"/>
                </a:lnSpc>
              </a:pPr>
              <a:r>
                <a:rPr lang="en-US" sz="2499" b="true">
                  <a:solidFill>
                    <a:srgbClr val="1B2A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Connection-Oriented</a:t>
              </a:r>
            </a:p>
            <a:p>
              <a:pPr algn="l">
                <a:lnSpc>
                  <a:spcPts val="2606"/>
                </a:lnSpc>
              </a:pPr>
            </a:p>
            <a:p>
              <a:pPr algn="l">
                <a:lnSpc>
                  <a:spcPts val="2606"/>
                </a:lnSpc>
              </a:pPr>
              <a:r>
                <a:rPr lang="en-US" sz="1974">
                  <a:solidFill>
                    <a:srgbClr val="5B74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เหมาะกับ transaction ที่ต้องยืนยันสถานะให้ชัดเจน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72800" y="2400300"/>
            <a:ext cx="6515100" cy="5966460"/>
            <a:chOff x="0" y="0"/>
            <a:chExt cx="8686800" cy="7955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86800" cy="7955280"/>
            </a:xfrm>
            <a:custGeom>
              <a:avLst/>
              <a:gdLst/>
              <a:ahLst/>
              <a:cxnLst/>
              <a:rect r="r" b="b" t="t" l="l"/>
              <a:pathLst>
                <a:path h="7955280" w="86868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8503920" y="0"/>
                  </a:lnTo>
                  <a:cubicBezTo>
                    <a:pt x="8604885" y="0"/>
                    <a:pt x="8686800" y="81915"/>
                    <a:pt x="8686800" y="182880"/>
                  </a:cubicBezTo>
                  <a:lnTo>
                    <a:pt x="8686800" y="7772400"/>
                  </a:lnTo>
                  <a:cubicBezTo>
                    <a:pt x="8686800" y="7873365"/>
                    <a:pt x="8604885" y="7955280"/>
                    <a:pt x="8503920" y="7955280"/>
                  </a:cubicBezTo>
                  <a:lnTo>
                    <a:pt x="182880" y="7955280"/>
                  </a:lnTo>
                  <a:cubicBezTo>
                    <a:pt x="81915" y="7955280"/>
                    <a:pt x="0" y="7873365"/>
                    <a:pt x="0" y="7772400"/>
                  </a:cubicBezTo>
                  <a:close/>
                </a:path>
              </a:pathLst>
            </a:custGeom>
            <a:solidFill>
              <a:srgbClr val="0B2E4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0" y="2674620"/>
            <a:ext cx="6515100" cy="685800"/>
            <a:chOff x="0" y="0"/>
            <a:chExt cx="86868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68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86868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TCP  vs  UDP</a:t>
              </a:r>
            </a:p>
          </p:txBody>
        </p:sp>
      </p:grpSp>
      <p:graphicFrame>
        <p:nvGraphicFramePr>
          <p:cNvPr name="Table 45" id="45"/>
          <p:cNvGraphicFramePr>
            <a:graphicFrameLocks noGrp="true"/>
          </p:cNvGraphicFramePr>
          <p:nvPr/>
        </p:nvGraphicFramePr>
        <p:xfrm>
          <a:off x="11452860" y="3566160"/>
          <a:ext cx="5524500" cy="4343400"/>
        </p:xfrm>
        <a:graphic>
          <a:graphicData uri="http://schemas.openxmlformats.org/drawingml/2006/table">
            <a:tbl>
              <a:tblPr/>
              <a:tblGrid>
                <a:gridCol w="2762250"/>
                <a:gridCol w="2762250"/>
              </a:tblGrid>
              <a:tr h="1085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TCP (เลือกใช้)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UDP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516A"/>
                    </a:solidFill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E6F0F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เน้นความแม่นยำ ครบถ้วน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C7D9E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เน้นความเร็ว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E6F0F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รับประกันลำดับข้อมูล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C7D9E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ไม่รับประกันลำดับ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8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E6F0F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เหมาะกับระบบจอง/การเงิน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>
                          <a:solidFill>
                            <a:srgbClr val="C7D9E2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เหมาะกับ video streaming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B4A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6" id="46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Protocol Design — HBP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54380" y="2385060"/>
            <a:ext cx="7406640" cy="519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2749" b="true">
                <a:solidFill>
                  <a:srgbClr val="065A8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Hotel Booking Protocol (HBP)</a:t>
            </a:r>
          </a:p>
          <a:p>
            <a:pPr algn="l">
              <a:lnSpc>
                <a:spcPts val="3353"/>
              </a:lnSpc>
            </a:pPr>
          </a:p>
          <a:p>
            <a:pPr algn="l">
              <a:lnSpc>
                <a:spcPts val="3353"/>
              </a:lnSpc>
            </a:pPr>
            <a:r>
              <a:rPr lang="en-US" sz="2149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Protocol ที่ออกแบบเองสำหรับโปรเจกต์นี้ ทำงานบน JSON over TCP</a:t>
            </a:r>
          </a:p>
          <a:p>
            <a:pPr algn="l">
              <a:lnSpc>
                <a:spcPts val="3353"/>
              </a:lnSpc>
            </a:pPr>
          </a:p>
          <a:p>
            <a:pPr algn="l">
              <a:lnSpc>
                <a:spcPts val="3353"/>
              </a:lnSpc>
            </a:pPr>
          </a:p>
          <a:p>
            <a:pPr algn="l">
              <a:lnSpc>
                <a:spcPts val="3353"/>
              </a:lnSpc>
            </a:pPr>
            <a:r>
              <a:rPr lang="en-US" sz="2149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มี 4 actions หลัก: SEARCH_ROOM, LOCK_ROOM, CONFIRM_BOOKING, CANCEL_LOCK</a:t>
            </a:r>
          </a:p>
          <a:p>
            <a:pPr algn="l">
              <a:lnSpc>
                <a:spcPts val="3353"/>
              </a:lnSpc>
            </a:pPr>
          </a:p>
          <a:p>
            <a:pPr algn="l">
              <a:lnSpc>
                <a:spcPts val="3353"/>
              </a:lnSpc>
            </a:pPr>
            <a:r>
              <a:rPr lang="en-US" sz="2149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มี status code แบบ HTTP-style (200, 202, 409, 410 ฯลฯ)</a:t>
            </a:r>
          </a:p>
          <a:p>
            <a:pPr algn="l">
              <a:lnSpc>
                <a:spcPts val="3353"/>
              </a:lnSpc>
            </a:pPr>
          </a:p>
          <a:p>
            <a:pPr algn="l">
              <a:lnSpc>
                <a:spcPts val="3353"/>
              </a:lnSpc>
            </a:pPr>
            <a:r>
              <a:rPr lang="en-US" sz="2149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ห้องที่ถูก LOCKED ต้องถูก CONFIRM ภายใน 30 วินาที</a:t>
            </a:r>
          </a:p>
          <a:p>
            <a:pPr algn="l">
              <a:lnSpc>
                <a:spcPts val="3353"/>
              </a:lnSpc>
            </a:pPr>
            <a:r>
              <a:rPr lang="en-US" sz="2149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   ไม่งั้นจะถูกปลดล็อกอัตโนมัติ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052560" y="3291840"/>
            <a:ext cx="2537460" cy="1303020"/>
            <a:chOff x="0" y="0"/>
            <a:chExt cx="3383280" cy="1737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236976" y="0"/>
                  </a:lnTo>
                  <a:cubicBezTo>
                    <a:pt x="3317748" y="0"/>
                    <a:pt x="3383280" y="65532"/>
                    <a:pt x="3383280" y="146304"/>
                  </a:cubicBezTo>
                  <a:lnTo>
                    <a:pt x="3383280" y="1591056"/>
                  </a:lnTo>
                  <a:cubicBezTo>
                    <a:pt x="3383280" y="1671828"/>
                    <a:pt x="3317748" y="1737360"/>
                    <a:pt x="32369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52560" y="3291840"/>
            <a:ext cx="2537460" cy="1303020"/>
            <a:chOff x="0" y="0"/>
            <a:chExt cx="3383280" cy="1737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38328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AVAILABLE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99748" y="3744468"/>
            <a:ext cx="685800" cy="411480"/>
            <a:chOff x="0" y="0"/>
            <a:chExt cx="914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137160"/>
                  </a:moveTo>
                  <a:lnTo>
                    <a:pt x="640080" y="137160"/>
                  </a:lnTo>
                  <a:lnTo>
                    <a:pt x="640080" y="0"/>
                  </a:lnTo>
                  <a:lnTo>
                    <a:pt x="914400" y="274320"/>
                  </a:lnTo>
                  <a:lnTo>
                    <a:pt x="640080" y="548640"/>
                  </a:lnTo>
                  <a:lnTo>
                    <a:pt x="64008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5B748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85548" y="3291840"/>
            <a:ext cx="2537460" cy="1303020"/>
            <a:chOff x="0" y="0"/>
            <a:chExt cx="3383280" cy="1737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236976" y="0"/>
                  </a:lnTo>
                  <a:cubicBezTo>
                    <a:pt x="3317748" y="0"/>
                    <a:pt x="3383280" y="65532"/>
                    <a:pt x="3383280" y="146304"/>
                  </a:cubicBezTo>
                  <a:lnTo>
                    <a:pt x="3383280" y="1591056"/>
                  </a:lnTo>
                  <a:cubicBezTo>
                    <a:pt x="3383280" y="1671828"/>
                    <a:pt x="3317748" y="1737360"/>
                    <a:pt x="32369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F2A65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85548" y="3291840"/>
            <a:ext cx="2537460" cy="1303020"/>
            <a:chOff x="0" y="0"/>
            <a:chExt cx="3383280" cy="1737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338328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2E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LOCKED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032736" y="3744468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137160"/>
                  </a:moveTo>
                  <a:lnTo>
                    <a:pt x="640080" y="137160"/>
                  </a:lnTo>
                  <a:lnTo>
                    <a:pt x="640080" y="0"/>
                  </a:lnTo>
                  <a:lnTo>
                    <a:pt x="914400" y="274320"/>
                  </a:lnTo>
                  <a:lnTo>
                    <a:pt x="640080" y="548640"/>
                  </a:lnTo>
                  <a:lnTo>
                    <a:pt x="640080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5B748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718536" y="3291840"/>
            <a:ext cx="2537460" cy="1303020"/>
            <a:chOff x="0" y="0"/>
            <a:chExt cx="3383280" cy="1737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236976" y="0"/>
                  </a:lnTo>
                  <a:cubicBezTo>
                    <a:pt x="3317748" y="0"/>
                    <a:pt x="3383280" y="65532"/>
                    <a:pt x="3383280" y="146304"/>
                  </a:cubicBezTo>
                  <a:lnTo>
                    <a:pt x="3383280" y="1591056"/>
                  </a:lnTo>
                  <a:cubicBezTo>
                    <a:pt x="3383280" y="1671828"/>
                    <a:pt x="3317748" y="1737360"/>
                    <a:pt x="32369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718536" y="3291840"/>
            <a:ext cx="2537460" cy="1303020"/>
            <a:chOff x="0" y="0"/>
            <a:chExt cx="338328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3832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885" t="0" r="-1588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338328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BOOKED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73642" y="5131594"/>
            <a:ext cx="2561272" cy="915352"/>
            <a:chOff x="0" y="0"/>
            <a:chExt cx="3415030" cy="12204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15030" cy="1220470"/>
            </a:xfrm>
            <a:custGeom>
              <a:avLst/>
              <a:gdLst/>
              <a:ahLst/>
              <a:cxnLst/>
              <a:rect r="r" b="b" t="t" l="l"/>
              <a:pathLst>
                <a:path h="1220470" w="3415030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3302381" y="0"/>
                  </a:lnTo>
                  <a:cubicBezTo>
                    <a:pt x="3364611" y="0"/>
                    <a:pt x="3415030" y="50419"/>
                    <a:pt x="3415030" y="112649"/>
                  </a:cubicBezTo>
                  <a:lnTo>
                    <a:pt x="3415030" y="1107821"/>
                  </a:lnTo>
                  <a:cubicBezTo>
                    <a:pt x="3415030" y="1170051"/>
                    <a:pt x="3364611" y="1220470"/>
                    <a:pt x="3302381" y="1220470"/>
                  </a:cubicBezTo>
                  <a:lnTo>
                    <a:pt x="112649" y="1220470"/>
                  </a:lnTo>
                  <a:cubicBezTo>
                    <a:pt x="50419" y="1220470"/>
                    <a:pt x="0" y="1170051"/>
                    <a:pt x="0" y="1107821"/>
                  </a:cubicBezTo>
                  <a:close/>
                </a:path>
              </a:pathLst>
            </a:custGeom>
            <a:solidFill>
              <a:srgbClr val="FFF3E4"/>
            </a:solidFill>
            <a:ln w="23812" cap="sq">
              <a:solidFill>
                <a:srgbClr val="F2A65A"/>
              </a:solidFill>
              <a:prstDash val="dash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385548" y="5143500"/>
            <a:ext cx="2537460" cy="891540"/>
            <a:chOff x="0" y="0"/>
            <a:chExt cx="3383280" cy="1188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8328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7" r="0" b="-545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38328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4"/>
                </a:lnSpc>
              </a:pPr>
              <a:r>
                <a:rPr lang="en-US" sz="1575" i="true">
                  <a:solidFill>
                    <a:srgbClr val="8A5A2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(timeout)</a:t>
              </a:r>
            </a:p>
            <a:p>
              <a:pPr algn="ctr">
                <a:lnSpc>
                  <a:spcPts val="1984"/>
                </a:lnSpc>
              </a:pPr>
              <a:r>
                <a:rPr lang="en-US" sz="1575" i="true">
                  <a:solidFill>
                    <a:srgbClr val="8A5A2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กลับเป็น AVAILABLE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5229960">
            <a:off x="13365318" y="4859655"/>
            <a:ext cx="577920" cy="0"/>
          </a:xfrm>
          <a:prstGeom prst="line">
            <a:avLst/>
          </a:prstGeom>
          <a:ln cap="rnd" w="19050">
            <a:solidFill>
              <a:srgbClr val="F2A65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 rot="31200">
            <a:off x="10519534" y="5572887"/>
            <a:ext cx="3149098" cy="0"/>
          </a:xfrm>
          <a:prstGeom prst="line">
            <a:avLst/>
          </a:prstGeom>
          <a:ln cap="rnd" w="19050">
            <a:solidFill>
              <a:srgbClr val="F2A65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 rot="5303340">
            <a:off x="10025624" y="5079111"/>
            <a:ext cx="1016527" cy="0"/>
          </a:xfrm>
          <a:prstGeom prst="line">
            <a:avLst/>
          </a:prstGeom>
          <a:ln cap="rnd" w="19050">
            <a:solidFill>
              <a:srgbClr val="F2A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4 Actions of HBP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54380" y="2331720"/>
          <a:ext cx="16764000" cy="3429000"/>
        </p:xfrm>
        <a:graphic>
          <a:graphicData uri="http://schemas.openxmlformats.org/drawingml/2006/table">
            <a:tbl>
              <a:tblPr/>
              <a:tblGrid>
                <a:gridCol w="4535394"/>
                <a:gridCol w="12228606"/>
              </a:tblGrid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ความหมาย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SEARCH_ROOM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ค้นหาห้องว่าง — Read-only ไม่กระทบ state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LOCK_ROOM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ล็อกห้องชั่วคราว — จองสิทธิ์ก่อนใคร 30 วินาที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CONFIRM_BOOKING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ยืนยันจองห้องที่ล็อกไว้ — เปลี่ยนสถานะเป็น BOOKED ถาวร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CANCEL_LOCK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ยกเลิกล็อก — คืนห้องเป็น AVAILABLE ทันที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2760" y="7089698"/>
            <a:ext cx="16490402" cy="700910"/>
            <a:chOff x="0" y="0"/>
            <a:chExt cx="2554795" cy="1085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54795" cy="108589"/>
            </a:xfrm>
            <a:custGeom>
              <a:avLst/>
              <a:gdLst/>
              <a:ahLst/>
              <a:cxnLst/>
              <a:rect r="r" b="b" t="t" l="l"/>
              <a:pathLst>
                <a:path h="108589" w="2554795">
                  <a:moveTo>
                    <a:pt x="0" y="0"/>
                  </a:moveTo>
                  <a:lnTo>
                    <a:pt x="2554795" y="0"/>
                  </a:lnTo>
                  <a:lnTo>
                    <a:pt x="2554795" y="108589"/>
                  </a:lnTo>
                  <a:lnTo>
                    <a:pt x="0" y="108589"/>
                  </a:lnTo>
                  <a:close/>
                </a:path>
              </a:pathLst>
            </a:custGeom>
            <a:blipFill>
              <a:blip r:embed="rId4"/>
              <a:stretch>
                <a:fillRect l="0" t="-5795" r="0" b="-579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HTTP-style Status Codes in HBP</a:t>
              </a: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54380" y="2194560"/>
          <a:ext cx="16744950" cy="5029200"/>
        </p:xfrm>
        <a:graphic>
          <a:graphicData uri="http://schemas.openxmlformats.org/drawingml/2006/table">
            <a:tbl>
              <a:tblPr/>
              <a:tblGrid>
                <a:gridCol w="1798812"/>
                <a:gridCol w="4658752"/>
                <a:gridCol w="10287386"/>
              </a:tblGrid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Phrase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ใช้เมื่อไหร่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5B74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ค้นหาสำเร็จทั่วไป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Booking Confirmed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5B74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จองสำเร็จสมบูรณ์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Lock Acquired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5B74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ล็อกห้องสำเร็จ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B565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409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A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Room Already Locked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5B74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มีคนอื่นล็อกห้องนี้อยู่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B5651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1B2A33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Lock Expired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5B74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ล็อกหมดเวลาก่อนยืนยัน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4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Room Not Found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5B74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ไม่พบห้องที่ระบุ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065A8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B2A3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Bad Request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5B748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รูปแบบ message ผิด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754380" y="8298180"/>
            <a:ext cx="16778783" cy="891540"/>
            <a:chOff x="0" y="0"/>
            <a:chExt cx="22371710" cy="1188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371686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37168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2225381" y="0"/>
                  </a:lnTo>
                  <a:cubicBezTo>
                    <a:pt x="22306153" y="0"/>
                    <a:pt x="22371686" y="65532"/>
                    <a:pt x="22371686" y="146304"/>
                  </a:cubicBezTo>
                  <a:lnTo>
                    <a:pt x="22371686" y="1042416"/>
                  </a:lnTo>
                  <a:cubicBezTo>
                    <a:pt x="22371686" y="1123188"/>
                    <a:pt x="22306153" y="1188720"/>
                    <a:pt x="22225381" y="1188720"/>
                  </a:cubicBezTo>
                  <a:lnTo>
                    <a:pt x="146304" y="1188720"/>
                  </a:lnTo>
                  <a:cubicBezTo>
                    <a:pt x="65532" y="1188720"/>
                    <a:pt x="0" y="1123188"/>
                    <a:pt x="0" y="1042416"/>
                  </a:cubicBezTo>
                  <a:close/>
                </a:path>
              </a:pathLst>
            </a:custGeom>
            <a:solidFill>
              <a:srgbClr val="F2A65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7280" y="8298180"/>
            <a:ext cx="16092983" cy="891540"/>
            <a:chOff x="0" y="0"/>
            <a:chExt cx="2145731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457310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457310">
                  <a:moveTo>
                    <a:pt x="0" y="0"/>
                  </a:moveTo>
                  <a:lnTo>
                    <a:pt x="21457310" y="0"/>
                  </a:lnTo>
                  <a:lnTo>
                    <a:pt x="2145731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719" r="0" b="-30171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145731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B2E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เน้น: 409 และ 410 คือหัวใจของ concurrency control — เป็นตัวบอกว่าระบบ "ปฏิเสธ" การจองซ้ำได้ถูกต้อง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Design Decision: One Lock Per Room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20782" y="2678190"/>
            <a:ext cx="7316687" cy="1341522"/>
            <a:chOff x="0" y="0"/>
            <a:chExt cx="2451993" cy="4495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51993" cy="449576"/>
            </a:xfrm>
            <a:custGeom>
              <a:avLst/>
              <a:gdLst/>
              <a:ahLst/>
              <a:cxnLst/>
              <a:rect r="r" b="b" t="t" l="l"/>
              <a:pathLst>
                <a:path h="449576" w="2451993">
                  <a:moveTo>
                    <a:pt x="0" y="0"/>
                  </a:moveTo>
                  <a:lnTo>
                    <a:pt x="2451993" y="0"/>
                  </a:lnTo>
                  <a:lnTo>
                    <a:pt x="2451993" y="449576"/>
                  </a:lnTo>
                  <a:lnTo>
                    <a:pt x="0" y="449576"/>
                  </a:lnTo>
                  <a:close/>
                </a:path>
              </a:pathLst>
            </a:custGeom>
            <a:blipFill>
              <a:blip r:embed="rId4"/>
              <a:stretch>
                <a:fillRect l="0" t="-4112" r="0" b="-4112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120782" y="4473938"/>
            <a:ext cx="7316687" cy="2911665"/>
            <a:chOff x="0" y="0"/>
            <a:chExt cx="1483653" cy="5904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3653" cy="590418"/>
            </a:xfrm>
            <a:custGeom>
              <a:avLst/>
              <a:gdLst/>
              <a:ahLst/>
              <a:cxnLst/>
              <a:rect r="r" b="b" t="t" l="l"/>
              <a:pathLst>
                <a:path h="590418" w="1483653">
                  <a:moveTo>
                    <a:pt x="0" y="0"/>
                  </a:moveTo>
                  <a:lnTo>
                    <a:pt x="1483653" y="0"/>
                  </a:lnTo>
                  <a:lnTo>
                    <a:pt x="1483653" y="590418"/>
                  </a:lnTo>
                  <a:lnTo>
                    <a:pt x="0" y="590418"/>
                  </a:lnTo>
                  <a:close/>
                </a:path>
              </a:pathLst>
            </a:custGeom>
            <a:blipFill>
              <a:blip r:embed="rId5"/>
              <a:stretch>
                <a:fillRect l="-189" t="0" r="-189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54380" y="1992630"/>
            <a:ext cx="8366760" cy="516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ใช้ threading.Lock() แยกอันต่อห้อง ไม่ใช่ lock เดียวทั้งระบบ</a:t>
            </a:r>
          </a:p>
          <a:p>
            <a:pPr algn="l">
              <a:lnSpc>
                <a:spcPts val="3402"/>
              </a:lnSpc>
            </a:pPr>
          </a:p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Client ที่จอง R101 กับ client ที่จอง R102 ทำงานพร้อมกันได้เลย ไม่ต้องรอกัน</a:t>
            </a:r>
          </a:p>
          <a:p>
            <a:pPr algn="l">
              <a:lnSpc>
                <a:spcPts val="3402"/>
              </a:lnSpc>
            </a:pPr>
          </a:p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ถ้าใช้ global lock เดียว ทุก request ต้องเข้าคิวทีละคน แม้จะจองคนละห้อง = คอขวดโดยไม่จำเป็น</a:t>
            </a:r>
          </a:p>
          <a:p>
            <a:pPr algn="l">
              <a:lnSpc>
                <a:spcPts val="3402"/>
              </a:lnSpc>
            </a:pPr>
          </a:p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แสดงความเข้าใจเรื่อง lock granularity — trade-off ระหว่างความเร็วกับความซับซ้อน</a:t>
            </a:r>
          </a:p>
          <a:p>
            <a:pPr algn="l">
              <a:lnSpc>
                <a:spcPts val="3402"/>
              </a:lnSpc>
            </a:pPr>
          </a:p>
          <a:p>
            <a:pPr algn="l">
              <a:lnSpc>
                <a:spcPts val="3402"/>
              </a:lnSpc>
            </a:pPr>
            <a:r>
              <a:rPr lang="en-US" sz="210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ทุก thread ต้องอ้างอิง Lock object ตัวเดียวกันต่อห้อง (คัดลอก Lock = ไม่มี mutual exclusion จริง)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Automatic Lock Timeout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68216" y="2676220"/>
            <a:ext cx="7591084" cy="2659334"/>
            <a:chOff x="0" y="0"/>
            <a:chExt cx="1556388" cy="5452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6388" cy="545239"/>
            </a:xfrm>
            <a:custGeom>
              <a:avLst/>
              <a:gdLst/>
              <a:ahLst/>
              <a:cxnLst/>
              <a:rect r="r" b="b" t="t" l="l"/>
              <a:pathLst>
                <a:path h="545239" w="1556388">
                  <a:moveTo>
                    <a:pt x="0" y="0"/>
                  </a:moveTo>
                  <a:lnTo>
                    <a:pt x="1556388" y="0"/>
                  </a:lnTo>
                  <a:lnTo>
                    <a:pt x="1556388" y="545239"/>
                  </a:lnTo>
                  <a:lnTo>
                    <a:pt x="0" y="545239"/>
                  </a:lnTo>
                  <a:close/>
                </a:path>
              </a:pathLst>
            </a:custGeom>
            <a:blipFill>
              <a:blip r:embed="rId4"/>
              <a:stretch>
                <a:fillRect l="0" t="-58" r="0" b="-58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06127" y="5739700"/>
            <a:ext cx="7591084" cy="2236062"/>
            <a:chOff x="0" y="0"/>
            <a:chExt cx="275933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59330" cy="812800"/>
            </a:xfrm>
            <a:custGeom>
              <a:avLst/>
              <a:gdLst/>
              <a:ahLst/>
              <a:cxnLst/>
              <a:rect r="r" b="b" t="t" l="l"/>
              <a:pathLst>
                <a:path h="812800" w="2759330">
                  <a:moveTo>
                    <a:pt x="0" y="0"/>
                  </a:moveTo>
                  <a:lnTo>
                    <a:pt x="2759330" y="0"/>
                  </a:lnTo>
                  <a:lnTo>
                    <a:pt x="27593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347" t="0" r="-347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54380" y="1992630"/>
            <a:ext cx="8366760" cy="571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 b="true">
                <a:solidFill>
                  <a:srgbClr val="065A8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กลไกการทำงาน</a:t>
            </a:r>
          </a:p>
          <a:p>
            <a:pPr algn="l">
              <a:lnSpc>
                <a:spcPts val="3159"/>
              </a:lnSpc>
            </a:pPr>
          </a:p>
          <a:p>
            <a:pPr algn="l">
              <a:lnSpc>
                <a:spcPts val="3159"/>
              </a:lnSpc>
            </a:pPr>
            <a:r>
              <a:rPr lang="en-US" sz="202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ใช้ threading.Timer ตั้งเวลา 30 วินาทีหลังล็อกสำเร็จ</a:t>
            </a:r>
          </a:p>
          <a:p>
            <a:pPr algn="l">
              <a:lnSpc>
                <a:spcPts val="3159"/>
              </a:lnSpc>
            </a:pPr>
          </a:p>
          <a:p>
            <a:pPr algn="l">
              <a:lnSpc>
                <a:spcPts val="3159"/>
              </a:lnSpc>
            </a:pPr>
            <a:r>
              <a:rPr lang="en-US" sz="202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ถ้าไม่มี CONFIRM_BOOKING มาภายในเวลา ห้องจะกลับเป็น AVAILABLE อัตโนมัติ</a:t>
            </a:r>
          </a:p>
          <a:p>
            <a:pPr algn="l">
              <a:lnSpc>
                <a:spcPts val="3159"/>
              </a:lnSpc>
            </a:pPr>
          </a:p>
          <a:p>
            <a:pPr algn="l">
              <a:lnSpc>
                <a:spcPts val="3159"/>
              </a:lnSpc>
            </a:pPr>
          </a:p>
          <a:p>
            <a:pPr algn="l">
              <a:lnSpc>
                <a:spcPts val="3510"/>
              </a:lnSpc>
            </a:pPr>
            <a:r>
              <a:rPr lang="en-US" sz="2250" b="true">
                <a:solidFill>
                  <a:srgbClr val="B5651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Case ที่ต้องระวัง</a:t>
            </a:r>
          </a:p>
          <a:p>
            <a:pPr algn="l">
              <a:lnSpc>
                <a:spcPts val="3159"/>
              </a:lnSpc>
            </a:pPr>
          </a:p>
          <a:p>
            <a:pPr algn="l">
              <a:lnSpc>
                <a:spcPts val="3159"/>
              </a:lnSpc>
            </a:pPr>
            <a:r>
              <a:rPr lang="en-US" sz="202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Race condition ที่จังหวะ timer กำลังจะ fire พอดี กับตอนที่ client ส่ง confirm มาพร้อมกัน</a:t>
            </a:r>
          </a:p>
          <a:p>
            <a:pPr algn="l">
              <a:lnSpc>
                <a:spcPts val="3159"/>
              </a:lnSpc>
            </a:pPr>
          </a:p>
          <a:p>
            <a:pPr algn="l">
              <a:lnSpc>
                <a:spcPts val="3159"/>
              </a:lnSpc>
            </a:pPr>
            <a:r>
              <a:rPr lang="en-US" sz="202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แก้ด้วย defensive state-checking: ก่อน timer จะรีเซ็ตห้อง ต้องเช็คสถานะปัจจุบันก่อนว่ายังเป็น LOCKED โดย client เดิมอยู่จริงหรือไม่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Handling Multiple Clients Concurrently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2075" y="2322195"/>
            <a:ext cx="2350770" cy="1047750"/>
            <a:chOff x="0" y="0"/>
            <a:chExt cx="313436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436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34360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3003931" y="0"/>
                  </a:lnTo>
                  <a:cubicBezTo>
                    <a:pt x="3075940" y="0"/>
                    <a:pt x="3134360" y="58420"/>
                    <a:pt x="3134360" y="130429"/>
                  </a:cubicBezTo>
                  <a:lnTo>
                    <a:pt x="3134360" y="1266571"/>
                  </a:lnTo>
                  <a:cubicBezTo>
                    <a:pt x="3134360" y="1338580"/>
                    <a:pt x="3075940" y="1397000"/>
                    <a:pt x="3003931" y="1397000"/>
                  </a:cubicBezTo>
                  <a:lnTo>
                    <a:pt x="130429" y="1397000"/>
                  </a:lnTo>
                  <a:cubicBezTo>
                    <a:pt x="58420" y="1397000"/>
                    <a:pt x="0" y="1338580"/>
                    <a:pt x="0" y="1266571"/>
                  </a:cubicBezTo>
                  <a:close/>
                </a:path>
              </a:pathLst>
            </a:custGeom>
            <a:solidFill>
              <a:srgbClr val="F2F7FA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2331720"/>
            <a:ext cx="2331720" cy="1028700"/>
            <a:chOff x="0" y="0"/>
            <a:chExt cx="3108960" cy="1371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08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10896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09060" y="2660904"/>
            <a:ext cx="754380" cy="370332"/>
            <a:chOff x="0" y="0"/>
            <a:chExt cx="1005840" cy="4937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493776"/>
            </a:xfrm>
            <a:custGeom>
              <a:avLst/>
              <a:gdLst/>
              <a:ahLst/>
              <a:cxnLst/>
              <a:rect r="r" b="b" t="t" l="l"/>
              <a:pathLst>
                <a:path h="493776" w="1005840">
                  <a:moveTo>
                    <a:pt x="0" y="123444"/>
                  </a:moveTo>
                  <a:lnTo>
                    <a:pt x="758952" y="123444"/>
                  </a:lnTo>
                  <a:lnTo>
                    <a:pt x="758952" y="0"/>
                  </a:lnTo>
                  <a:lnTo>
                    <a:pt x="1005840" y="246888"/>
                  </a:lnTo>
                  <a:lnTo>
                    <a:pt x="758952" y="493776"/>
                  </a:lnTo>
                  <a:lnTo>
                    <a:pt x="758952" y="370332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69180" y="2331720"/>
            <a:ext cx="2606040" cy="1028700"/>
            <a:chOff x="0" y="0"/>
            <a:chExt cx="347472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346704" y="0"/>
                  </a:lnTo>
                  <a:cubicBezTo>
                    <a:pt x="3417443" y="0"/>
                    <a:pt x="3474720" y="57277"/>
                    <a:pt x="3474720" y="128016"/>
                  </a:cubicBezTo>
                  <a:lnTo>
                    <a:pt x="3474720" y="1243584"/>
                  </a:lnTo>
                  <a:cubicBezTo>
                    <a:pt x="3474720" y="1314323"/>
                    <a:pt x="3417443" y="1371600"/>
                    <a:pt x="3346704" y="1371600"/>
                  </a:cubicBezTo>
                  <a:lnTo>
                    <a:pt x="128016" y="1371600"/>
                  </a:lnTo>
                  <a:cubicBezTo>
                    <a:pt x="57277" y="1371600"/>
                    <a:pt x="0" y="1314323"/>
                    <a:pt x="0" y="124358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2331720"/>
            <a:ext cx="2606040" cy="1028700"/>
            <a:chOff x="0" y="0"/>
            <a:chExt cx="347472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4747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Thread 1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(daemon)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80960" y="2660904"/>
            <a:ext cx="754380" cy="370332"/>
            <a:chOff x="0" y="0"/>
            <a:chExt cx="1005840" cy="4937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493776"/>
            </a:xfrm>
            <a:custGeom>
              <a:avLst/>
              <a:gdLst/>
              <a:ahLst/>
              <a:cxnLst/>
              <a:rect r="r" b="b" t="t" l="l"/>
              <a:pathLst>
                <a:path h="493776" w="1005840">
                  <a:moveTo>
                    <a:pt x="0" y="123444"/>
                  </a:moveTo>
                  <a:lnTo>
                    <a:pt x="758952" y="123444"/>
                  </a:lnTo>
                  <a:lnTo>
                    <a:pt x="758952" y="0"/>
                  </a:lnTo>
                  <a:lnTo>
                    <a:pt x="1005840" y="246888"/>
                  </a:lnTo>
                  <a:lnTo>
                    <a:pt x="758952" y="493776"/>
                  </a:lnTo>
                  <a:lnTo>
                    <a:pt x="758952" y="370332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5B748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62075" y="3762375"/>
            <a:ext cx="2350770" cy="1047750"/>
            <a:chOff x="0" y="0"/>
            <a:chExt cx="3134360" cy="139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3436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34360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3003931" y="0"/>
                  </a:lnTo>
                  <a:cubicBezTo>
                    <a:pt x="3075940" y="0"/>
                    <a:pt x="3134360" y="58420"/>
                    <a:pt x="3134360" y="130429"/>
                  </a:cubicBezTo>
                  <a:lnTo>
                    <a:pt x="3134360" y="1266571"/>
                  </a:lnTo>
                  <a:cubicBezTo>
                    <a:pt x="3134360" y="1338580"/>
                    <a:pt x="3075940" y="1397000"/>
                    <a:pt x="3003931" y="1397000"/>
                  </a:cubicBezTo>
                  <a:lnTo>
                    <a:pt x="130429" y="1397000"/>
                  </a:lnTo>
                  <a:cubicBezTo>
                    <a:pt x="58420" y="1397000"/>
                    <a:pt x="0" y="1338580"/>
                    <a:pt x="0" y="1266571"/>
                  </a:cubicBezTo>
                  <a:close/>
                </a:path>
              </a:pathLst>
            </a:custGeom>
            <a:solidFill>
              <a:srgbClr val="F2F7FA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3771900"/>
            <a:ext cx="2331720" cy="1028700"/>
            <a:chOff x="0" y="0"/>
            <a:chExt cx="310896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10896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909060" y="4101084"/>
            <a:ext cx="754380" cy="370332"/>
            <a:chOff x="0" y="0"/>
            <a:chExt cx="1005840" cy="4937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493776"/>
            </a:xfrm>
            <a:custGeom>
              <a:avLst/>
              <a:gdLst/>
              <a:ahLst/>
              <a:cxnLst/>
              <a:rect r="r" b="b" t="t" l="l"/>
              <a:pathLst>
                <a:path h="493776" w="1005840">
                  <a:moveTo>
                    <a:pt x="0" y="123444"/>
                  </a:moveTo>
                  <a:lnTo>
                    <a:pt x="758952" y="123444"/>
                  </a:lnTo>
                  <a:lnTo>
                    <a:pt x="758952" y="0"/>
                  </a:lnTo>
                  <a:lnTo>
                    <a:pt x="1005840" y="246888"/>
                  </a:lnTo>
                  <a:lnTo>
                    <a:pt x="758952" y="493776"/>
                  </a:lnTo>
                  <a:lnTo>
                    <a:pt x="758952" y="370332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869180" y="3771900"/>
            <a:ext cx="2606040" cy="1028700"/>
            <a:chOff x="0" y="0"/>
            <a:chExt cx="347472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346704" y="0"/>
                  </a:lnTo>
                  <a:cubicBezTo>
                    <a:pt x="3417443" y="0"/>
                    <a:pt x="3474720" y="57277"/>
                    <a:pt x="3474720" y="128016"/>
                  </a:cubicBezTo>
                  <a:lnTo>
                    <a:pt x="3474720" y="1243584"/>
                  </a:lnTo>
                  <a:cubicBezTo>
                    <a:pt x="3474720" y="1314323"/>
                    <a:pt x="3417443" y="1371600"/>
                    <a:pt x="3346704" y="1371600"/>
                  </a:cubicBezTo>
                  <a:lnTo>
                    <a:pt x="128016" y="1371600"/>
                  </a:lnTo>
                  <a:cubicBezTo>
                    <a:pt x="57277" y="1371600"/>
                    <a:pt x="0" y="1314323"/>
                    <a:pt x="0" y="124358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869180" y="3771900"/>
            <a:ext cx="2606040" cy="1028700"/>
            <a:chOff x="0" y="0"/>
            <a:chExt cx="347472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4747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Thread 2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(daemon)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680960" y="4101084"/>
            <a:ext cx="754380" cy="370332"/>
            <a:chOff x="0" y="0"/>
            <a:chExt cx="1005840" cy="4937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493776"/>
            </a:xfrm>
            <a:custGeom>
              <a:avLst/>
              <a:gdLst/>
              <a:ahLst/>
              <a:cxnLst/>
              <a:rect r="r" b="b" t="t" l="l"/>
              <a:pathLst>
                <a:path h="493776" w="1005840">
                  <a:moveTo>
                    <a:pt x="0" y="123444"/>
                  </a:moveTo>
                  <a:lnTo>
                    <a:pt x="758952" y="123444"/>
                  </a:lnTo>
                  <a:lnTo>
                    <a:pt x="758952" y="0"/>
                  </a:lnTo>
                  <a:lnTo>
                    <a:pt x="1005840" y="246888"/>
                  </a:lnTo>
                  <a:lnTo>
                    <a:pt x="758952" y="493776"/>
                  </a:lnTo>
                  <a:lnTo>
                    <a:pt x="758952" y="370332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5B748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62075" y="5202555"/>
            <a:ext cx="2350770" cy="1047750"/>
            <a:chOff x="0" y="0"/>
            <a:chExt cx="3134360" cy="1397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3436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134360">
                  <a:moveTo>
                    <a:pt x="0" y="130429"/>
                  </a:moveTo>
                  <a:cubicBezTo>
                    <a:pt x="0" y="58420"/>
                    <a:pt x="58420" y="0"/>
                    <a:pt x="130429" y="0"/>
                  </a:cubicBezTo>
                  <a:lnTo>
                    <a:pt x="3003931" y="0"/>
                  </a:lnTo>
                  <a:cubicBezTo>
                    <a:pt x="3075940" y="0"/>
                    <a:pt x="3134360" y="58420"/>
                    <a:pt x="3134360" y="130429"/>
                  </a:cubicBezTo>
                  <a:lnTo>
                    <a:pt x="3134360" y="1266571"/>
                  </a:lnTo>
                  <a:cubicBezTo>
                    <a:pt x="3134360" y="1338580"/>
                    <a:pt x="3075940" y="1397000"/>
                    <a:pt x="3003931" y="1397000"/>
                  </a:cubicBezTo>
                  <a:lnTo>
                    <a:pt x="130429" y="1397000"/>
                  </a:lnTo>
                  <a:cubicBezTo>
                    <a:pt x="58420" y="1397000"/>
                    <a:pt x="0" y="1338580"/>
                    <a:pt x="0" y="1266571"/>
                  </a:cubicBezTo>
                  <a:close/>
                </a:path>
              </a:pathLst>
            </a:custGeom>
            <a:solidFill>
              <a:srgbClr val="F2F7FA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71600" y="5212080"/>
            <a:ext cx="2331720" cy="1028700"/>
            <a:chOff x="0" y="0"/>
            <a:chExt cx="310896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08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04" t="0" r="-660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10896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 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909060" y="5541264"/>
            <a:ext cx="754380" cy="370332"/>
            <a:chOff x="0" y="0"/>
            <a:chExt cx="1005840" cy="49377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493776"/>
            </a:xfrm>
            <a:custGeom>
              <a:avLst/>
              <a:gdLst/>
              <a:ahLst/>
              <a:cxnLst/>
              <a:rect r="r" b="b" t="t" l="l"/>
              <a:pathLst>
                <a:path h="493776" w="1005840">
                  <a:moveTo>
                    <a:pt x="0" y="123444"/>
                  </a:moveTo>
                  <a:lnTo>
                    <a:pt x="758952" y="123444"/>
                  </a:lnTo>
                  <a:lnTo>
                    <a:pt x="758952" y="0"/>
                  </a:lnTo>
                  <a:lnTo>
                    <a:pt x="1005840" y="246888"/>
                  </a:lnTo>
                  <a:lnTo>
                    <a:pt x="758952" y="493776"/>
                  </a:lnTo>
                  <a:lnTo>
                    <a:pt x="758952" y="370332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869180" y="5212080"/>
            <a:ext cx="2606040" cy="1028700"/>
            <a:chOff x="0" y="0"/>
            <a:chExt cx="3474720" cy="1371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346704" y="0"/>
                  </a:lnTo>
                  <a:cubicBezTo>
                    <a:pt x="3417443" y="0"/>
                    <a:pt x="3474720" y="57277"/>
                    <a:pt x="3474720" y="128016"/>
                  </a:cubicBezTo>
                  <a:lnTo>
                    <a:pt x="3474720" y="1243584"/>
                  </a:lnTo>
                  <a:cubicBezTo>
                    <a:pt x="3474720" y="1314323"/>
                    <a:pt x="3417443" y="1371600"/>
                    <a:pt x="3346704" y="1371600"/>
                  </a:cubicBezTo>
                  <a:lnTo>
                    <a:pt x="128016" y="1371600"/>
                  </a:lnTo>
                  <a:cubicBezTo>
                    <a:pt x="57277" y="1371600"/>
                    <a:pt x="0" y="1314323"/>
                    <a:pt x="0" y="124358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869180" y="5212080"/>
            <a:ext cx="2606040" cy="1028700"/>
            <a:chOff x="0" y="0"/>
            <a:chExt cx="347472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347472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Thread 3</a:t>
              </a:r>
            </a:p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(daemon)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80960" y="5541264"/>
            <a:ext cx="754380" cy="370332"/>
            <a:chOff x="0" y="0"/>
            <a:chExt cx="1005840" cy="4937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" cy="493776"/>
            </a:xfrm>
            <a:custGeom>
              <a:avLst/>
              <a:gdLst/>
              <a:ahLst/>
              <a:cxnLst/>
              <a:rect r="r" b="b" t="t" l="l"/>
              <a:pathLst>
                <a:path h="493776" w="1005840">
                  <a:moveTo>
                    <a:pt x="0" y="123444"/>
                  </a:moveTo>
                  <a:lnTo>
                    <a:pt x="758952" y="123444"/>
                  </a:lnTo>
                  <a:lnTo>
                    <a:pt x="758952" y="0"/>
                  </a:lnTo>
                  <a:lnTo>
                    <a:pt x="1005840" y="246888"/>
                  </a:lnTo>
                  <a:lnTo>
                    <a:pt x="758952" y="493776"/>
                  </a:lnTo>
                  <a:lnTo>
                    <a:pt x="758952" y="370332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5B748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641080" y="2606040"/>
            <a:ext cx="3429000" cy="3360420"/>
            <a:chOff x="0" y="0"/>
            <a:chExt cx="4572000" cy="44805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72000" cy="4480560"/>
            </a:xfrm>
            <a:custGeom>
              <a:avLst/>
              <a:gdLst/>
              <a:ahLst/>
              <a:cxnLst/>
              <a:rect r="r" b="b" t="t" l="l"/>
              <a:pathLst>
                <a:path h="4480560" w="45720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407408" y="0"/>
                  </a:lnTo>
                  <a:cubicBezTo>
                    <a:pt x="4498340" y="0"/>
                    <a:pt x="4572000" y="73660"/>
                    <a:pt x="4572000" y="164592"/>
                  </a:cubicBezTo>
                  <a:lnTo>
                    <a:pt x="4572000" y="4315968"/>
                  </a:lnTo>
                  <a:cubicBezTo>
                    <a:pt x="4572000" y="4406900"/>
                    <a:pt x="4498340" y="4480560"/>
                    <a:pt x="4407408" y="4480560"/>
                  </a:cubicBezTo>
                  <a:lnTo>
                    <a:pt x="164592" y="4480560"/>
                  </a:lnTo>
                  <a:cubicBezTo>
                    <a:pt x="73660" y="4480560"/>
                    <a:pt x="0" y="4406900"/>
                    <a:pt x="0" y="431596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983980" y="2606040"/>
            <a:ext cx="2743200" cy="3360420"/>
            <a:chOff x="0" y="0"/>
            <a:chExt cx="3657600" cy="4480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4480560"/>
            </a:xfrm>
            <a:custGeom>
              <a:avLst/>
              <a:gdLst/>
              <a:ahLst/>
              <a:cxnLst/>
              <a:rect r="r" b="b" t="t" l="l"/>
              <a:pathLst>
                <a:path h="44805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4480560"/>
                  </a:lnTo>
                  <a:lnTo>
                    <a:pt x="0" y="448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7171" t="0" r="-10717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3657600" cy="4575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Shared Room State</a:t>
              </a:r>
            </a:p>
            <a:p>
              <a:pPr algn="ctr">
                <a:lnSpc>
                  <a:spcPts val="2808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(protected by</a:t>
              </a:r>
            </a:p>
            <a:p>
              <a:pPr algn="ctr">
                <a:lnSpc>
                  <a:spcPts val="2808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per-room Lock)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754380" y="6537960"/>
            <a:ext cx="16778783" cy="244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Server สร้าง thread ใหม่ 1 อัน ต่อ 1 client connection</a:t>
            </a:r>
          </a:p>
          <a:p>
            <a:pPr algn="l">
              <a:lnSpc>
                <a:spcPts val="3042"/>
              </a:lnSpc>
            </a:pP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ใช้ daemon=True เพื่อให้ thread ปิดตัวอัตโนมัติเมื่อ main process จบ</a:t>
            </a:r>
          </a:p>
          <a:p>
            <a:pPr algn="l">
              <a:lnSpc>
                <a:spcPts val="3042"/>
              </a:lnSpc>
            </a:pP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ฟังก์ชัน handle_client() แยกการทำงานของแต่ละ client ออกจากกัน</a:t>
            </a:r>
          </a:p>
          <a:p>
            <a:pPr algn="l">
              <a:lnSpc>
                <a:spcPts val="3042"/>
              </a:lnSpc>
            </a:pPr>
          </a:p>
          <a:p>
            <a:pPr algn="l">
              <a:lnSpc>
                <a:spcPts val="3042"/>
              </a:lnSpc>
            </a:pPr>
            <a:r>
              <a:rPr lang="en-US" sz="1950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ป้องกันด้วย with lock: แทน acquire()/release() มือ — กัน lock ค้างหาก error เกิดกลางทาง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850392" cy="850392"/>
            <a:chOff x="0" y="0"/>
            <a:chExt cx="1133856" cy="1133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133856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79092" y="534924"/>
            <a:ext cx="15654071" cy="1014984"/>
            <a:chOff x="0" y="0"/>
            <a:chExt cx="20872094" cy="13533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72093" cy="1353312"/>
            </a:xfrm>
            <a:custGeom>
              <a:avLst/>
              <a:gdLst/>
              <a:ahLst/>
              <a:cxnLst/>
              <a:rect r="r" b="b" t="t" l="l"/>
              <a:pathLst>
                <a:path h="1353312" w="20872093">
                  <a:moveTo>
                    <a:pt x="0" y="0"/>
                  </a:moveTo>
                  <a:lnTo>
                    <a:pt x="20872093" y="0"/>
                  </a:lnTo>
                  <a:lnTo>
                    <a:pt x="20872093" y="1353312"/>
                  </a:lnTo>
                  <a:lnTo>
                    <a:pt x="0" y="1353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517" r="0" b="-2505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0872094" cy="136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Concurrency Testing Results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4380" y="2194560"/>
            <a:ext cx="8046491" cy="6995160"/>
            <a:chOff x="0" y="0"/>
            <a:chExt cx="10728655" cy="9326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579" cy="9326880"/>
            </a:xfrm>
            <a:custGeom>
              <a:avLst/>
              <a:gdLst/>
              <a:ahLst/>
              <a:cxnLst/>
              <a:rect r="r" b="b" t="t" l="l"/>
              <a:pathLst>
                <a:path h="9326880" w="10728579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275" y="0"/>
                  </a:lnTo>
                  <a:cubicBezTo>
                    <a:pt x="10663047" y="0"/>
                    <a:pt x="10728579" y="65532"/>
                    <a:pt x="10728579" y="146304"/>
                  </a:cubicBezTo>
                  <a:lnTo>
                    <a:pt x="10728579" y="9180576"/>
                  </a:lnTo>
                  <a:cubicBezTo>
                    <a:pt x="10728579" y="9261348"/>
                    <a:pt x="10663047" y="9326880"/>
                    <a:pt x="10582275" y="9326880"/>
                  </a:cubicBezTo>
                  <a:lnTo>
                    <a:pt x="146304" y="9326880"/>
                  </a:lnTo>
                  <a:cubicBezTo>
                    <a:pt x="65532" y="9326880"/>
                    <a:pt x="0" y="9261348"/>
                    <a:pt x="0" y="9180576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441448"/>
            <a:ext cx="7360691" cy="685800"/>
            <a:chOff x="0" y="0"/>
            <a:chExt cx="9814255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14256" cy="914400"/>
            </a:xfrm>
            <a:custGeom>
              <a:avLst/>
              <a:gdLst/>
              <a:ahLst/>
              <a:cxnLst/>
              <a:rect r="r" b="b" t="t" l="l"/>
              <a:pathLst>
                <a:path h="914400" w="9814256">
                  <a:moveTo>
                    <a:pt x="0" y="0"/>
                  </a:moveTo>
                  <a:lnTo>
                    <a:pt x="9814256" y="0"/>
                  </a:lnTo>
                  <a:lnTo>
                    <a:pt x="98142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132" r="0" b="-15913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814255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1: Race Condition Test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86671" y="2194560"/>
            <a:ext cx="8046491" cy="6995160"/>
            <a:chOff x="0" y="0"/>
            <a:chExt cx="10728655" cy="932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28579" cy="9326880"/>
            </a:xfrm>
            <a:custGeom>
              <a:avLst/>
              <a:gdLst/>
              <a:ahLst/>
              <a:cxnLst/>
              <a:rect r="r" b="b" t="t" l="l"/>
              <a:pathLst>
                <a:path h="9326880" w="10728579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82275" y="0"/>
                  </a:lnTo>
                  <a:cubicBezTo>
                    <a:pt x="10663047" y="0"/>
                    <a:pt x="10728579" y="65532"/>
                    <a:pt x="10728579" y="146304"/>
                  </a:cubicBezTo>
                  <a:lnTo>
                    <a:pt x="10728579" y="9180576"/>
                  </a:lnTo>
                  <a:cubicBezTo>
                    <a:pt x="10728579" y="9261348"/>
                    <a:pt x="10663047" y="9326880"/>
                    <a:pt x="10582275" y="9326880"/>
                  </a:cubicBezTo>
                  <a:lnTo>
                    <a:pt x="146304" y="9326880"/>
                  </a:lnTo>
                  <a:cubicBezTo>
                    <a:pt x="65532" y="9326880"/>
                    <a:pt x="0" y="9261348"/>
                    <a:pt x="0" y="9180576"/>
                  </a:cubicBezTo>
                  <a:close/>
                </a:path>
              </a:pathLst>
            </a:custGeom>
            <a:solidFill>
              <a:srgbClr val="F2F7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29571" y="2441448"/>
            <a:ext cx="7360691" cy="685800"/>
            <a:chOff x="0" y="0"/>
            <a:chExt cx="9814255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14256" cy="914400"/>
            </a:xfrm>
            <a:custGeom>
              <a:avLst/>
              <a:gdLst/>
              <a:ahLst/>
              <a:cxnLst/>
              <a:rect r="r" b="b" t="t" l="l"/>
              <a:pathLst>
                <a:path h="914400" w="9814256">
                  <a:moveTo>
                    <a:pt x="0" y="0"/>
                  </a:moveTo>
                  <a:lnTo>
                    <a:pt x="9814256" y="0"/>
                  </a:lnTo>
                  <a:lnTo>
                    <a:pt x="981425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132" r="0" b="-1591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814255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2: Timeout Test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72873" y="5473095"/>
            <a:ext cx="5009505" cy="3529012"/>
            <a:chOff x="0" y="0"/>
            <a:chExt cx="1153786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53786" cy="812800"/>
            </a:xfrm>
            <a:custGeom>
              <a:avLst/>
              <a:gdLst/>
              <a:ahLst/>
              <a:cxnLst/>
              <a:rect r="r" b="b" t="t" l="l"/>
              <a:pathLst>
                <a:path h="812800" w="1153786">
                  <a:moveTo>
                    <a:pt x="0" y="0"/>
                  </a:moveTo>
                  <a:lnTo>
                    <a:pt x="1153786" y="0"/>
                  </a:lnTo>
                  <a:lnTo>
                    <a:pt x="115378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1041" t="0" r="-1041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60844" y="5458500"/>
            <a:ext cx="6935314" cy="3543607"/>
            <a:chOff x="0" y="0"/>
            <a:chExt cx="1388985" cy="7097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88985" cy="709704"/>
            </a:xfrm>
            <a:custGeom>
              <a:avLst/>
              <a:gdLst/>
              <a:ahLst/>
              <a:cxnLst/>
              <a:rect r="r" b="b" t="t" l="l"/>
              <a:pathLst>
                <a:path h="709704" w="1388985">
                  <a:moveTo>
                    <a:pt x="0" y="0"/>
                  </a:moveTo>
                  <a:lnTo>
                    <a:pt x="1388985" y="0"/>
                  </a:lnTo>
                  <a:lnTo>
                    <a:pt x="1388985" y="709704"/>
                  </a:lnTo>
                  <a:lnTo>
                    <a:pt x="0" y="709704"/>
                  </a:lnTo>
                  <a:close/>
                </a:path>
              </a:pathLst>
            </a:custGeom>
            <a:blipFill>
              <a:blip r:embed="rId5"/>
              <a:stretch>
                <a:fillRect l="-401" t="0" r="-401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97280" y="3128010"/>
            <a:ext cx="7360691" cy="222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จำลอง 10 client ยิง LOCK_ROOM R101 พร้อมกันเป๊ะ (ใช้ threading.Barrier)</a:t>
            </a:r>
          </a:p>
          <a:p>
            <a:pPr algn="l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  <a:r>
              <a:rPr lang="en-US" sz="1875" b="true">
                <a:solidFill>
                  <a:srgbClr val="1B6F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ผลลัพธ์ที่คาดหวัง:</a:t>
            </a:r>
          </a:p>
          <a:p>
            <a:pPr algn="l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มีแค่ 1 client ได้ 202 Lock Acquired ที่เหลือได้ 409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29571" y="3128010"/>
            <a:ext cx="7360691" cy="2221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ล็อกห้องไว้ รอเกินเวลา timeout แล้วส่ง CONFIRM_BOOKING</a:t>
            </a:r>
          </a:p>
          <a:p>
            <a:pPr algn="l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  <a:r>
              <a:rPr lang="en-US" sz="1875" b="true">
                <a:solidFill>
                  <a:srgbClr val="1B6F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ผลลัพธ์ที่คาดหวัง:</a:t>
            </a:r>
          </a:p>
          <a:p>
            <a:pPr algn="l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1B2A33"/>
                </a:solidFill>
                <a:latin typeface="Calibri (MS)"/>
                <a:ea typeface="Calibri (MS)"/>
                <a:cs typeface="Calibri (MS)"/>
                <a:sym typeface="Calibri (MS)"/>
              </a:rPr>
              <a:t>ได้ 410 Lock Expired และห้องสามารถถูกล็อกใหม่ได้ (202)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29000" y="-3429000"/>
            <a:ext cx="7543800" cy="7543800"/>
            <a:chOff x="0" y="0"/>
            <a:chExt cx="10058400" cy="1005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1C7293">
                <a:alpha val="313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754380"/>
            <a:ext cx="10972800" cy="1097280"/>
            <a:chOff x="0" y="0"/>
            <a:chExt cx="14630400" cy="146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Summary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54380" y="2290572"/>
            <a:ext cx="576072" cy="576072"/>
            <a:chOff x="0" y="0"/>
            <a:chExt cx="768096" cy="768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2A65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380" y="2290572"/>
            <a:ext cx="576072" cy="576072"/>
            <a:chOff x="0" y="0"/>
            <a:chExt cx="768096" cy="7680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E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77340" y="2180844"/>
            <a:ext cx="10012680" cy="822960"/>
            <a:chOff x="0" y="0"/>
            <a:chExt cx="1335024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5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33502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E6F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ออกแบบ protocol เอง (HBP) บน TCP + JSON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3278124"/>
            <a:ext cx="576072" cy="576072"/>
            <a:chOff x="0" y="0"/>
            <a:chExt cx="768096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2A65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4380" y="3278124"/>
            <a:ext cx="576072" cy="576072"/>
            <a:chOff x="0" y="0"/>
            <a:chExt cx="768096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E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77340" y="3168396"/>
            <a:ext cx="10012680" cy="822960"/>
            <a:chOff x="0" y="0"/>
            <a:chExt cx="1335024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5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33502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E6F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แก้ปัญหา race condition ด้วย per-room locking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4380" y="4265676"/>
            <a:ext cx="576072" cy="576072"/>
            <a:chOff x="0" y="0"/>
            <a:chExt cx="768096" cy="768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2A65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54380" y="4265676"/>
            <a:ext cx="576072" cy="576072"/>
            <a:chOff x="0" y="0"/>
            <a:chExt cx="768096" cy="7680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E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77340" y="4155948"/>
            <a:ext cx="10012680" cy="822960"/>
            <a:chOff x="0" y="0"/>
            <a:chExt cx="1335024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35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33502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E6F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จัดการ timeout อัตโนมัติ พร้อมป้องกัน edge case ที่ timer ชนกับ confirm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4380" y="5253228"/>
            <a:ext cx="576072" cy="576072"/>
            <a:chOff x="0" y="0"/>
            <a:chExt cx="768096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F2A65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754380" y="5253228"/>
            <a:ext cx="576072" cy="576072"/>
            <a:chOff x="0" y="0"/>
            <a:chExt cx="768096" cy="76809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2E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77340" y="5143500"/>
            <a:ext cx="10012680" cy="822960"/>
            <a:chOff x="0" y="0"/>
            <a:chExt cx="1335024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35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067" r="0" b="-18706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133502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7"/>
                </a:lnSpc>
              </a:pPr>
              <a:r>
                <a:rPr lang="en-US" sz="2100">
                  <a:solidFill>
                    <a:srgbClr val="E6F0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ทดสอบ concurrency จริงด้วย automated test scripts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4380" y="6652260"/>
            <a:ext cx="10972800" cy="2606040"/>
            <a:chOff x="0" y="0"/>
            <a:chExt cx="14630400" cy="3474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4630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4484096" y="0"/>
                  </a:lnTo>
                  <a:cubicBezTo>
                    <a:pt x="14564868" y="0"/>
                    <a:pt x="14630400" y="65532"/>
                    <a:pt x="14630400" y="146304"/>
                  </a:cubicBezTo>
                  <a:lnTo>
                    <a:pt x="14630400" y="3328416"/>
                  </a:lnTo>
                  <a:cubicBezTo>
                    <a:pt x="14630400" y="3409188"/>
                    <a:pt x="14564868" y="3474720"/>
                    <a:pt x="1448409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12395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" y="6830568"/>
            <a:ext cx="10287000" cy="548640"/>
            <a:chOff x="0" y="0"/>
            <a:chExt cx="1371600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71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3716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2A65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แนวทางต่อยอดในอนาคต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97280" y="7301865"/>
            <a:ext cx="10287000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7D9E2"/>
                </a:solidFill>
                <a:latin typeface="Calibri (MS)"/>
                <a:ea typeface="Calibri (MS)"/>
                <a:cs typeface="Calibri (MS)"/>
                <a:sym typeface="Calibri (MS)"/>
              </a:rPr>
              <a:t>•  เปลี่ยนจาก in-memory เป็น database จริง (เช่น Redis distributed lock)</a:t>
            </a:r>
          </a:p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7D9E2"/>
                </a:solidFill>
                <a:latin typeface="Calibri (MS)"/>
                <a:ea typeface="Calibri (MS)"/>
                <a:cs typeface="Calibri (MS)"/>
                <a:sym typeface="Calibri (MS)"/>
              </a:rPr>
              <a:t>•  เพิ่มระบบ authentication</a:t>
            </a:r>
          </a:p>
          <a:p>
            <a:pPr algn="l">
              <a:lnSpc>
                <a:spcPts val="2925"/>
              </a:lnSpc>
            </a:pPr>
            <a:r>
              <a:rPr lang="en-US" sz="1875">
                <a:solidFill>
                  <a:srgbClr val="C7D9E2"/>
                </a:solidFill>
                <a:latin typeface="Calibri (MS)"/>
                <a:ea typeface="Calibri (MS)"/>
                <a:cs typeface="Calibri (MS)"/>
                <a:sym typeface="Calibri (MS)"/>
              </a:rPr>
              <a:t>•  รองรับหลายโรงแรม/หลายสาขา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824460" y="2263140"/>
            <a:ext cx="4732020" cy="6995160"/>
            <a:chOff x="0" y="0"/>
            <a:chExt cx="6309360" cy="9326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309360" cy="9326880"/>
            </a:xfrm>
            <a:custGeom>
              <a:avLst/>
              <a:gdLst/>
              <a:ahLst/>
              <a:cxnLst/>
              <a:rect r="r" b="b" t="t" l="l"/>
              <a:pathLst>
                <a:path h="9326880" w="63093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126480" y="0"/>
                  </a:lnTo>
                  <a:cubicBezTo>
                    <a:pt x="6227445" y="0"/>
                    <a:pt x="6309360" y="81915"/>
                    <a:pt x="6309360" y="182880"/>
                  </a:cubicBezTo>
                  <a:lnTo>
                    <a:pt x="6309360" y="9144000"/>
                  </a:lnTo>
                  <a:cubicBezTo>
                    <a:pt x="6309360" y="9244965"/>
                    <a:pt x="6227445" y="9326880"/>
                    <a:pt x="6126480" y="9326880"/>
                  </a:cubicBezTo>
                  <a:lnTo>
                    <a:pt x="182880" y="9326880"/>
                  </a:lnTo>
                  <a:cubicBezTo>
                    <a:pt x="81915" y="9326880"/>
                    <a:pt x="0" y="9244965"/>
                    <a:pt x="0" y="91440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167360" y="2606040"/>
            <a:ext cx="4046220" cy="1028700"/>
            <a:chOff x="0" y="0"/>
            <a:chExt cx="5394960" cy="1371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94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41" r="0" b="-2664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394960" cy="1409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Core Concepts</a:t>
              </a:r>
            </a:p>
            <a:p>
              <a:pPr algn="l">
                <a:lnSpc>
                  <a:spcPts val="316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Demonstrated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3167360" y="3629025"/>
            <a:ext cx="4046220" cy="224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2049">
                <a:solidFill>
                  <a:srgbClr val="EAF4F7"/>
                </a:solidFill>
                <a:latin typeface="Calibri (MS)"/>
                <a:ea typeface="Calibri (MS)"/>
                <a:cs typeface="Calibri (MS)"/>
                <a:sym typeface="Calibri (MS)"/>
              </a:rPr>
              <a:t>•  TCP Socket Programming</a:t>
            </a:r>
          </a:p>
          <a:p>
            <a:pPr algn="l">
              <a:lnSpc>
                <a:spcPts val="3566"/>
              </a:lnSpc>
            </a:pPr>
            <a:r>
              <a:rPr lang="en-US" sz="2049">
                <a:solidFill>
                  <a:srgbClr val="EAF4F7"/>
                </a:solidFill>
                <a:latin typeface="Calibri (MS)"/>
                <a:ea typeface="Calibri (MS)"/>
                <a:cs typeface="Calibri (MS)"/>
                <a:sym typeface="Calibri (MS)"/>
              </a:rPr>
              <a:t>•  Multi-threading</a:t>
            </a:r>
          </a:p>
          <a:p>
            <a:pPr algn="l">
              <a:lnSpc>
                <a:spcPts val="3566"/>
              </a:lnSpc>
            </a:pPr>
            <a:r>
              <a:rPr lang="en-US" sz="2049">
                <a:solidFill>
                  <a:srgbClr val="EAF4F7"/>
                </a:solidFill>
                <a:latin typeface="Calibri (MS)"/>
                <a:ea typeface="Calibri (MS)"/>
                <a:cs typeface="Calibri (MS)"/>
                <a:sym typeface="Calibri (MS)"/>
              </a:rPr>
              <a:t>•  Lock Granularity</a:t>
            </a:r>
          </a:p>
          <a:p>
            <a:pPr algn="l">
              <a:lnSpc>
                <a:spcPts val="3566"/>
              </a:lnSpc>
            </a:pPr>
            <a:r>
              <a:rPr lang="en-US" sz="2049">
                <a:solidFill>
                  <a:srgbClr val="EAF4F7"/>
                </a:solidFill>
                <a:latin typeface="Calibri (MS)"/>
                <a:ea typeface="Calibri (MS)"/>
                <a:cs typeface="Calibri (MS)"/>
                <a:sym typeface="Calibri (MS)"/>
              </a:rPr>
              <a:t>•  Timeout Handling</a:t>
            </a:r>
          </a:p>
          <a:p>
            <a:pPr algn="l">
              <a:lnSpc>
                <a:spcPts val="3566"/>
              </a:lnSpc>
            </a:pPr>
            <a:r>
              <a:rPr lang="en-US" sz="2049">
                <a:solidFill>
                  <a:srgbClr val="EAF4F7"/>
                </a:solidFill>
                <a:latin typeface="Calibri (MS)"/>
                <a:ea typeface="Calibri (MS)"/>
                <a:cs typeface="Calibri (MS)"/>
                <a:sym typeface="Calibri (MS)"/>
              </a:rPr>
              <a:t>•  Race Condition Prevention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754380" y="9765792"/>
            <a:ext cx="9601200" cy="411480"/>
            <a:chOff x="0" y="0"/>
            <a:chExt cx="128016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2801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Hotel Room Booking with Concurrency Control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847363" y="9765792"/>
            <a:ext cx="685800" cy="411480"/>
            <a:chOff x="0" y="0"/>
            <a:chExt cx="9144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AAA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DAHTw6L6oF4</dc:identifier>
  <dcterms:modified xsi:type="dcterms:W3CDTF">2011-08-01T06:04:30Z</dcterms:modified>
  <cp:revision>1</cp:revision>
  <dc:title>Hotel Booking Concurrency.pptx</dc:title>
</cp:coreProperties>
</file>